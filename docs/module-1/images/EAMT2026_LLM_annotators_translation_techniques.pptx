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469880" y="6537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EAMT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43400" y="1234440"/>
            <a:ext cx="7040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26"/>
                </a:solidFill>
              </a:rPr>
              <a:t>LLMs as annotators of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2926"/>
                </a:solidFill>
              </a:rPr>
              <a:t>translation techniques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70832" y="27889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8706D"/>
                </a:solidFill>
              </a:rPr>
              <a:t>A few-shot approach to characterising human and machine translation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370832" y="5074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D50"/>
                </a:solidFill>
              </a:rPr>
              <a:t>EAMT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70832" y="55046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8706D"/>
                </a:solidFill>
              </a:rPr>
              <a:t>Work-in-progress presentation based on the submitted manuscript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Why automate this annotation?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99616"/>
            <a:ext cx="91440" cy="9144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417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26"/>
                </a:solidFill>
              </a:rPr>
              <a:t>Translation-technique annotation is analytically rich — but manual annotation is slow, costly and expertise-intensive.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2414016"/>
            <a:ext cx="91440" cy="9144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33172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26"/>
                </a:solidFill>
              </a:rPr>
              <a:t>LLMs offer scalability and few-shot adaptation without task-specific parameter updates.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3236976"/>
            <a:ext cx="91440" cy="9144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315468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F2926"/>
                </a:solidFill>
              </a:rPr>
              <a:t>The hard case is not generic labelling, but specialised, span-level decisions where categories can overlap conceptually.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0120" y="4617720"/>
            <a:ext cx="10058400" cy="868680"/>
          </a:xfrm>
          <a:prstGeom prst="roundRect">
            <a:avLst/>
          </a:prstGeom>
          <a:solidFill>
            <a:srgbClr val="E9EEE9"/>
          </a:solidFill>
          <a:ln w="12700">
            <a:solidFill>
              <a:srgbClr val="D5D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48463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50"/>
                </a:solidFill>
              </a:rPr>
              <a:t>Research question  →  Can LLMs reliably reproduce expert annotations of translation techniques in human and machine-generated translations?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17E"/>
                </a:solidFill>
              </a:rPr>
              <a:t>Source: manuscript, Introduction and §2.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From a taxonomy to a two-dimensional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9875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8706D"/>
                </a:solidFill>
              </a:rPr>
              <a:t>Techniques are positioned by what they do to the source–target relation.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28800" y="3657600"/>
            <a:ext cx="8229600" cy="0"/>
          </a:xfrm>
          <a:prstGeom prst="line">
            <a:avLst/>
          </a:prstGeom>
          <a:noFill/>
          <a:ln w="19050">
            <a:solidFill>
              <a:srgbClr val="1F2926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943600" y="5623560"/>
            <a:ext cx="0" cy="-4023360"/>
          </a:xfrm>
          <a:prstGeom prst="line">
            <a:avLst/>
          </a:prstGeom>
          <a:noFill/>
          <a:ln w="19050">
            <a:solidFill>
              <a:srgbClr val="1F2926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17220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26"/>
                </a:solidFill>
              </a:rPr>
              <a:t>Variation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44768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26"/>
                </a:solidFill>
              </a:rPr>
              <a:t>Explicitation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794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6D"/>
                </a:solidFill>
              </a:rPr>
              <a:t>minimal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46920" y="37947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6D"/>
                </a:solidFill>
              </a:rPr>
              <a:t>maximum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74920" y="14813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6D"/>
                </a:solidFill>
              </a:rPr>
              <a:t>maximum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5596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06D"/>
                </a:solidFill>
              </a:rPr>
              <a:t>minimal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1965960"/>
            <a:ext cx="3337560" cy="1143000"/>
          </a:xfrm>
          <a:prstGeom prst="roundRect">
            <a:avLst/>
          </a:prstGeom>
          <a:solidFill>
            <a:srgbClr val="2F5D50">
              <a:alpha val="95000"/>
            </a:srgbClr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76272" y="21031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 variation + high explicitation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76272" y="244144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Explicitation · Addition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1965960"/>
            <a:ext cx="3337560" cy="1143000"/>
          </a:xfrm>
          <a:prstGeom prst="roundRect">
            <a:avLst/>
          </a:prstGeom>
          <a:solidFill>
            <a:srgbClr val="C96F3B">
              <a:alpha val="95000"/>
            </a:srgbClr>
          </a:solidFill>
          <a:ln w="12700">
            <a:solidFill>
              <a:srgbClr val="C96F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210312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 variation + high explicitation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56832" y="244144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Substitution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0" y="4160520"/>
            <a:ext cx="3337560" cy="1143000"/>
          </a:xfrm>
          <a:prstGeom prst="roundRect">
            <a:avLst/>
          </a:prstGeom>
          <a:solidFill>
            <a:srgbClr val="3D6F8E">
              <a:alpha val="95000"/>
            </a:srgbClr>
          </a:solidFill>
          <a:ln w="12700">
            <a:solidFill>
              <a:srgbClr val="3D6F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429768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 variation + low explicitation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76272" y="463600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Basic translation · Established equivalent · Transposition · Modulation · Calque · Borrowing · Simplification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92240" y="4160520"/>
            <a:ext cx="3337560" cy="1143000"/>
          </a:xfrm>
          <a:prstGeom prst="roundRect">
            <a:avLst/>
          </a:prstGeom>
          <a:solidFill>
            <a:srgbClr val="725A83">
              <a:alpha val="95000"/>
            </a:srgbClr>
          </a:solidFill>
          <a:ln w="12700">
            <a:solidFill>
              <a:srgbClr val="725A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429768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 variation + low explicitation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56832" y="4636008"/>
            <a:ext cx="3008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Adaptation · Discursive creation · Characterization · Neutralization · Omission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17E"/>
                </a:solidFill>
              </a:rPr>
              <a:t>Source: manuscript §4.1–4.5 and Figure 1.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A second reading: undertranslation → default → overtranslation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600200"/>
            <a:ext cx="278892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D6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6F8E"/>
                </a:solidFill>
              </a:rPr>
              <a:t>UNDERTRANSLATION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26"/>
                </a:solidFill>
              </a:rPr>
              <a:t>Less informational, stylistic or pragmatic content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26"/>
                </a:solidFill>
              </a:rPr>
              <a:t>Omission · Simplification · Neutralization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51960" y="1600200"/>
            <a:ext cx="278892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F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D50"/>
                </a:solidFill>
              </a:rPr>
              <a:t>TRANSLATION BY DEFAULT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251460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26"/>
                </a:solidFill>
              </a:rPr>
              <a:t>Relevant communicative value is maintained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26"/>
                </a:solidFill>
              </a:rPr>
              <a:t>Basic translation · Established equivalent · Transposition · Modulation · Borrowing · Calque · Discursive creation · Adaptation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589520" y="1600200"/>
            <a:ext cx="278892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6F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54112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6F3B"/>
                </a:solidFill>
              </a:rPr>
              <a:t>OVERTRANSLATION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18120" y="2514600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26"/>
                </a:solidFill>
              </a:rPr>
              <a:t>More explicit, textually present or pragmatically marked content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2926"/>
                </a:solidFill>
              </a:rPr>
              <a:t>Explicitation · Addition · Substitution · Characterization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20240" y="55778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26"/>
                </a:solidFill>
              </a:rPr>
              <a:t>The explicitation axis becomes a continuum of reduction, maintenance and expansion.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17E"/>
                </a:solidFill>
              </a:rPr>
              <a:t>Source: manuscript §4.6.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Data: two opinion articles, two translation conditions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5D50"/>
                </a:solidFill>
              </a:rPr>
              <a:t>27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06D"/>
                </a:solidFill>
              </a:rPr>
              <a:t>text units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417320"/>
            <a:ext cx="0" cy="4114800"/>
          </a:xfrm>
          <a:prstGeom prst="line">
            <a:avLst/>
          </a:prstGeom>
          <a:noFill/>
          <a:ln w="12700">
            <a:solidFill>
              <a:srgbClr val="D6DB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461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26"/>
                </a:solidFill>
              </a:rPr>
              <a:t>The Austerity Debacle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46120" y="2057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5D50"/>
                </a:solidFill>
              </a:rPr>
              <a:t>14 units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26"/>
                </a:solidFill>
              </a:rPr>
              <a:t>The Show-Off Society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4612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5D50"/>
                </a:solidFill>
              </a:rPr>
              <a:t>13 units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3474720" cy="3154680"/>
          </a:xfrm>
          <a:prstGeom prst="roundRect">
            <a:avLst/>
          </a:prstGeom>
          <a:solidFill>
            <a:srgbClr val="EEF1EF"/>
          </a:solidFill>
          <a:ln w="12700">
            <a:solidFill>
              <a:srgbClr val="D9DF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17830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D50"/>
                </a:solidFill>
              </a:rPr>
              <a:t>Selection logic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635240" y="233172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26"/>
                </a:solidFill>
              </a:rPr>
              <a:t>• English New York Times opinion texts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26"/>
                </a:solidFill>
              </a:rPr>
              <a:t>• Human Spanish translations published in El País before 2015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26"/>
                </a:solidFill>
              </a:rPr>
              <a:t>• Machine-generated Spanish versions produced later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17E"/>
                </a:solidFill>
              </a:rPr>
              <a:t>Source: manuscript §5; uploaded JSON datasets (14 + 13 units).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Human reference annotation: three levels of validation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94360" cy="59436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465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423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26"/>
                </a:solidFill>
              </a:rPr>
              <a:t>Independent annotation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06D"/>
                </a:solidFill>
              </a:rPr>
              <a:t>Two annotators label source span, target equivalent and technique.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86200" y="1755648"/>
            <a:ext cx="457200" cy="274320"/>
          </a:xfrm>
          <a:prstGeom prst="chevron">
            <a:avLst/>
          </a:prstGeom>
          <a:solidFill>
            <a:srgbClr val="BCC8C1"/>
          </a:solidFill>
          <a:ln w="12700">
            <a:solidFill>
              <a:srgbClr val="BCC8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7465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26280" y="2423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26"/>
                </a:solidFill>
              </a:rPr>
              <a:t>Pairwise reconciliation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06D"/>
                </a:solidFill>
              </a:rPr>
              <a:t>Annotations are compared; missing spans and category disagreements are discussed.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589520" y="1755648"/>
            <a:ext cx="457200" cy="274320"/>
          </a:xfrm>
          <a:prstGeom prst="chevron">
            <a:avLst/>
          </a:prstGeom>
          <a:solidFill>
            <a:srgbClr val="BCC8C1"/>
          </a:solidFill>
          <a:ln w="12700">
            <a:solidFill>
              <a:srgbClr val="BCC8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600200"/>
            <a:ext cx="594360" cy="59436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74650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2423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26"/>
                </a:solidFill>
              </a:rPr>
              <a:t>Group agreement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0" y="29260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06D"/>
                </a:solidFill>
              </a:rPr>
              <a:t>Disputed categories are evaluated collectively and a final label is agreed.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03120" y="5074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5D50"/>
                </a:solidFill>
              </a:rPr>
              <a:t>Output: a reference set of expert annotations in JSON format.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17E"/>
                </a:solidFill>
              </a:rPr>
              <a:t>Source: manuscript §5, pp. 7–8.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Few-shot annotation experiment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2057400"/>
            <a:ext cx="1874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2267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26"/>
                </a:solidFill>
              </a:rPr>
              <a:t>TASK PROMPT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0936" y="262432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06D"/>
                </a:solidFill>
              </a:rPr>
              <a:t>Definitions + annotation requirements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404872" y="2450592"/>
            <a:ext cx="347472" cy="320040"/>
          </a:xfrm>
          <a:prstGeom prst="chevron">
            <a:avLst/>
          </a:prstGeom>
          <a:solidFill>
            <a:srgbClr val="AEBAB3"/>
          </a:solidFill>
          <a:ln w="12700">
            <a:solidFill>
              <a:srgbClr val="AEBA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2057400"/>
            <a:ext cx="1874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2267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26"/>
                </a:solidFill>
              </a:rPr>
              <a:t>ONE ANNOTATED 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62656" y="262432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06D"/>
                </a:solidFill>
              </a:rPr>
              <a:t>In-context demonstration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6592" y="2450592"/>
            <a:ext cx="347472" cy="320040"/>
          </a:xfrm>
          <a:prstGeom prst="chevron">
            <a:avLst/>
          </a:prstGeom>
          <a:solidFill>
            <a:srgbClr val="AEBAB3"/>
          </a:solidFill>
          <a:ln w="12700">
            <a:solidFill>
              <a:srgbClr val="AEBA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6360" y="2057400"/>
            <a:ext cx="1874520" cy="1143000"/>
          </a:xfrm>
          <a:prstGeom prst="roundRect">
            <a:avLst/>
          </a:prstGeom>
          <a:solidFill>
            <a:srgbClr val="E4ECE8"/>
          </a:solidFill>
          <a:ln w="25400">
            <a:solidFill>
              <a:srgbClr val="2F5D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76088" y="2267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D50"/>
                </a:solidFill>
              </a:rPr>
              <a:t>LLM ANNOTATOR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94376" y="262432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06D"/>
                </a:solidFill>
              </a:rPr>
              <a:t>Gemini Pro / Mistral Large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68312" y="2450592"/>
            <a:ext cx="347472" cy="320040"/>
          </a:xfrm>
          <a:prstGeom prst="chevron">
            <a:avLst/>
          </a:prstGeom>
          <a:solidFill>
            <a:srgbClr val="AEBAB3"/>
          </a:solidFill>
          <a:ln w="12700">
            <a:solidFill>
              <a:srgbClr val="AEBA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2057400"/>
            <a:ext cx="1874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2267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26"/>
                </a:solidFill>
              </a:rPr>
              <a:t>OTHER 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26096" y="262432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06D"/>
                </a:solidFill>
              </a:rPr>
              <a:t>Model-generated span labels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400032" y="2450592"/>
            <a:ext cx="347472" cy="320040"/>
          </a:xfrm>
          <a:prstGeom prst="chevron">
            <a:avLst/>
          </a:prstGeom>
          <a:solidFill>
            <a:srgbClr val="AEBAB3"/>
          </a:solidFill>
          <a:ln w="12700">
            <a:solidFill>
              <a:srgbClr val="AEBA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9800" y="2057400"/>
            <a:ext cx="1874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0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39528" y="2267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26"/>
                </a:solidFill>
              </a:rPr>
              <a:t>REFERENCE SET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957816" y="2624328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8706D"/>
                </a:solidFill>
              </a:rPr>
              <a:t>Comparison with expert annotations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41605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26"/>
                </a:solidFill>
              </a:rPr>
              <a:t>The demonstration text alternates between human and machine translation conditions.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17E"/>
                </a:solidFill>
              </a:rPr>
              <a:t>Source: manuscript §5.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Evaluation: not just “how many labels?”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029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B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6459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171907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COUNT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48840" y="1618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26"/>
                </a:solidFill>
              </a:rPr>
              <a:t>Total annotations generated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7552" y="2194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06D"/>
                </a:solidFill>
              </a:rPr>
              <a:t>Initial indication of annotation behaviour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029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B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64592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3D6F8E"/>
          </a:solidFill>
          <a:ln w="12700">
            <a:solidFill>
              <a:srgbClr val="3D6F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71907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MATCH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26680" y="161848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26"/>
                </a:solidFill>
              </a:rPr>
              <a:t>Correspondence with reference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65392" y="2194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06D"/>
                </a:solidFill>
              </a:rPr>
              <a:t>Are the same techniques identified?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5029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B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79476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C96F3B"/>
          </a:solidFill>
          <a:ln w="12700">
            <a:solidFill>
              <a:srgbClr val="C96F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386791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CONTEXT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37673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26"/>
                </a:solidFill>
              </a:rPr>
              <a:t>Span and contextual appropriateness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7552" y="4343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06D"/>
                </a:solidFill>
              </a:rPr>
              <a:t>Is the technique attached to the right segment?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3566160"/>
            <a:ext cx="50292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DB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3794760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725A83"/>
          </a:solidFill>
          <a:ln w="12700">
            <a:solidFill>
              <a:srgbClr val="725A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386791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METRICS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26680" y="376732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26"/>
                </a:solidFill>
              </a:rPr>
              <a:t>Precision · Recall · F1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65392" y="4343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8706D"/>
                </a:solidFill>
              </a:rPr>
              <a:t>Balanced quantitative comparison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17E"/>
                </a:solidFill>
              </a:rPr>
              <a:t>Source: manuscript §5, pp. 8–9.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Results: the supplied manuscript stops before reporting them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0120" y="1417320"/>
            <a:ext cx="10195560" cy="1143000"/>
          </a:xfrm>
          <a:prstGeom prst="roundRect">
            <a:avLst/>
          </a:prstGeom>
          <a:solidFill>
            <a:srgbClr val="FFF6EC"/>
          </a:solidFill>
          <a:ln w="12700">
            <a:solidFill>
              <a:srgbClr val="E7C5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25880" y="1719072"/>
            <a:ext cx="9464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26"/>
                </a:solidFill>
              </a:rPr>
              <a:t>The Results and Discussion section is currently empty, and the two uploaded JSON files contain the text variants but no annotation objects or model/reference labels.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5D50"/>
                </a:solidFill>
              </a:rPr>
              <a:t>What can already be reported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3785616"/>
            <a:ext cx="91440" cy="9144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7033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26"/>
                </a:solidFill>
              </a:rPr>
              <a:t>Corpus size: 27 units (14 + 13).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4306824"/>
            <a:ext cx="91440" cy="9144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4224528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26"/>
                </a:solidFill>
              </a:rPr>
              <a:t>Each unit contains the source plus multiple Spanish translation variants.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4910328"/>
            <a:ext cx="91440" cy="91440"/>
          </a:xfrm>
          <a:prstGeom prst="ellipse">
            <a:avLst/>
          </a:prstGeom>
          <a:solidFill>
            <a:srgbClr val="2F5D50"/>
          </a:solidFill>
          <a:ln w="12700">
            <a:solidFill>
              <a:srgbClr val="2F5D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828032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26"/>
                </a:solidFill>
              </a:rPr>
              <a:t>The evaluation design is fully specified: annotation count, correspondence, contextual quality, precision, recall and F1.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17E"/>
                </a:solidFill>
              </a:rPr>
              <a:t>Source: manuscript §6 (empty) and uploaded JSON files.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What the study can establish once the labels are available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417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D50"/>
                </a:solidFill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7373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26"/>
                </a:solidFill>
              </a:rPr>
              <a:t>Reliability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0" y="14173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706D"/>
                </a:solidFill>
              </a:rPr>
              <a:t>How closely LLM labels reproduce expert decisions.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130552"/>
            <a:ext cx="9784080" cy="0"/>
          </a:xfrm>
          <a:prstGeom prst="line">
            <a:avLst/>
          </a:prstGeom>
          <a:noFill/>
          <a:ln w="12700">
            <a:solidFill>
              <a:srgbClr val="DDE2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D50"/>
                </a:solidFill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560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26"/>
                </a:solidFill>
              </a:rPr>
              <a:t>Sensitivity to translation type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0" y="25603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706D"/>
                </a:solidFill>
              </a:rPr>
              <a:t>Whether performance differs between human and machine-generated translation.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3273552"/>
            <a:ext cx="9784080" cy="0"/>
          </a:xfrm>
          <a:prstGeom prst="line">
            <a:avLst/>
          </a:prstGeom>
          <a:noFill/>
          <a:ln w="12700">
            <a:solidFill>
              <a:srgbClr val="DDE2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703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D50"/>
                </a:solidFill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3736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26"/>
                </a:solidFill>
              </a:rPr>
              <a:t>Category-level difficulty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706D"/>
                </a:solidFill>
              </a:rPr>
              <a:t>Which techniques are consistently recognised — and which are confused.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4416552"/>
            <a:ext cx="9784080" cy="0"/>
          </a:xfrm>
          <a:prstGeom prst="line">
            <a:avLst/>
          </a:prstGeom>
          <a:noFill/>
          <a:ln w="12700">
            <a:solidFill>
              <a:srgbClr val="DDE2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46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D50"/>
                </a:solidFill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26"/>
                </a:solidFill>
              </a:rPr>
              <a:t>Workflow value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68706D"/>
                </a:solidFill>
              </a:rPr>
              <a:t>Where LLM annotation can reduce expert effort without removing human validation.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5559552"/>
            <a:ext cx="9784080" cy="0"/>
          </a:xfrm>
          <a:prstGeom prst="line">
            <a:avLst/>
          </a:prstGeom>
          <a:noFill/>
          <a:ln w="12700">
            <a:solidFill>
              <a:srgbClr val="DDE2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63276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B817E"/>
                </a:solidFill>
              </a:rPr>
              <a:t>Interpretive scope derived from the study design; no empirical result is claimed here.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26"/>
                </a:solidFill>
              </a:rPr>
              <a:t>Take-home message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051560" y="1508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26"/>
                </a:solidFill>
              </a:rPr>
              <a:t>Translation-technique annotation is a demanding test of LLMs as annotators because it combines span detection with expert interpretive categorisation.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2834640" y="2743200"/>
            <a:ext cx="6492240" cy="0"/>
          </a:xfrm>
          <a:prstGeom prst="line">
            <a:avLst/>
          </a:prstGeom>
          <a:noFill/>
          <a:ln w="38100">
            <a:solidFill>
              <a:srgbClr val="2F5D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57400" y="3246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8706D"/>
                </a:solidFill>
              </a:rPr>
              <a:t>The proposed framework adds structure: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376732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F5D50"/>
                </a:solidFill>
              </a:rPr>
              <a:t>variation × explicitation  +  undertranslation / default / overtranslation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828800" y="48920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26"/>
                </a:solidFill>
              </a:rPr>
              <a:t>Next step: populate the evaluation with the expert and LLM annotation exports and report category-level as well as aggregate performance.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4884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5D50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0632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8706D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89204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26"/>
                </a:solidFill>
              </a:rPr>
              <a:t>EAMT 2026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37960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B6B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LLMs as Annotators of Translation Techniques</dc:title>
  <dc:subject>EAMT 2026</dc:subject>
  <dc:creator/>
  <cp:lastModifiedBy/>
  <cp:revision>1</cp:revision>
  <dcterms:created xsi:type="dcterms:W3CDTF">2026-09-17T12:00:12Z</dcterms:created>
  <dcterms:modified xsi:type="dcterms:W3CDTF">2026-09-17T12:00:12Z</dcterms:modified>
</cp:coreProperties>
</file>